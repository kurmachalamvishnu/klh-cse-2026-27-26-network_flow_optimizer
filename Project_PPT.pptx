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-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Title of the project:- </a:t>
            </a:r>
            <a:r>
              <a:rPr lang="en-US" sz="4000" b="1" u="sng" dirty="0">
                <a:solidFill>
                  <a:srgbClr val="C00000"/>
                </a:solidFill>
                <a:latin typeface="+mn-lt"/>
              </a:rPr>
              <a:t>NETWORK FLOW OPTIMIZATION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 and Roll numbers:-</a:t>
            </a:r>
          </a:p>
          <a:p>
            <a:r>
              <a:rPr lang="en-US" dirty="0">
                <a:solidFill>
                  <a:srgbClr val="0070C0"/>
                </a:solidFill>
              </a:rPr>
              <a:t>K.VISHNU – 2520030199</a:t>
            </a:r>
          </a:p>
          <a:p>
            <a:r>
              <a:rPr lang="en-US" dirty="0">
                <a:solidFill>
                  <a:srgbClr val="0070C0"/>
                </a:solidFill>
              </a:rPr>
              <a:t>U.PRANEETH – 2520030188</a:t>
            </a:r>
          </a:p>
          <a:p>
            <a:r>
              <a:rPr lang="en-US" dirty="0">
                <a:solidFill>
                  <a:srgbClr val="0070C0"/>
                </a:solidFill>
              </a:rPr>
              <a:t>U.VIDAHTH – 2520030597</a:t>
            </a:r>
          </a:p>
          <a:p>
            <a:pPr marL="171450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Esteemed Guidance of</a:t>
            </a:r>
            <a:endParaRPr lang="en-IN" sz="1800" kern="100" dirty="0"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DR CH.ANURADHA MAM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ASSISTANT PROFESSOR, CSE</a:t>
            </a:r>
            <a:endParaRPr lang="en-IN" sz="1800" kern="100" dirty="0"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</a:t>
            </a:r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Title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10" name="TextBox Body"/>
          <p:cNvSpPr txBox="1"/>
          <p:nvPr/>
        </p:nvSpPr>
        <p:spPr>
          <a:xfrm>
            <a:off x="1000000" y="1050000"/>
            <a:ext cx="10192000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A network flow problem models a system of connected nodes — such as roads, pipelines or computer links — where every connection has a maximum capacity.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This project builds a system that finds the maximum amount that can be sent from a source node to a sink node without exceeding any connection's capacity.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Three well-known algorithms are implemented and compared: Ford-Fulkerson, Edmonds-Karp and Dinic's algorithm.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Along with the maximum flow, the system also identifies the minimum cut — the set of edges that form the bottleneck limiting the flow.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Such systems are used in real life for traffic routing, network bandwidth allocation and supply chain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Title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" name="TextBox Body"/>
          <p:cNvSpPr txBox="1"/>
          <p:nvPr/>
        </p:nvSpPr>
        <p:spPr>
          <a:xfrm>
            <a:off x="1000000" y="1050000"/>
            <a:ext cx="10192000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Many real systems can be viewed as a network: cities connected by roads, computers connected by cables, or warehouses connected by transport routes.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Each connection in such a network can carry only a limited amount at a time — this limit is called its capacity.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A network flow problem asks a simple question: what is the largest amount that can move from a starting point (source) to an ending point (sink) without breaking any capacity limit?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This is one of the most studied problems in graph theory, with direct use in transportation, communication and computer networks.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This project represents a network as a directed graph and applies flow algorithms to compute the maximum flow and the critical bottleneck edges.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Title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10" name="TextBox Body"/>
          <p:cNvSpPr txBox="1"/>
          <p:nvPr/>
        </p:nvSpPr>
        <p:spPr>
          <a:xfrm>
            <a:off x="1000000" y="1050000"/>
            <a:ext cx="10192000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Ford and Fulkerson (1956) introduced the first method to compute maximum flow by repeatedly finding augmenting paths in a residual graph.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Edmonds and Karp (1972) improved this method by always choosing the shortest augmenting path using breadth-first search, giving a predictable running time.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Dinic (1970) proposed a faster approach based on level graphs and blocking flows, which performs well on large and dense networks.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The Max-Flow Min-Cut theorem states that the maximum flow through a network is exactly equal to the capacity of its smallest cut.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These algorithms remain the foundation of modern tools used for traffic engineering, network design and logistics optimization.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Title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10" name="TextBox Body"/>
          <p:cNvSpPr txBox="1"/>
          <p:nvPr/>
        </p:nvSpPr>
        <p:spPr>
          <a:xfrm>
            <a:off x="1000000" y="1050000"/>
            <a:ext cx="10192000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</a:rPr>
              <a:t>Problem Statement</a:t>
            </a:r>
          </a:p>
          <a:p>
            <a:pPr marL="342900" indent="-342900" algn="l">
              <a:lnSpc>
                <a:spcPct val="130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Large networks with many limited-capacity connections make it difficult to manually calculate the maximum possible flow or identify the bottlenecks that restrict it.</a:t>
            </a:r>
          </a:p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</a:rPr>
              <a:t>Objectives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Represent any given network as a weighted directed graph.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Implement Ford-Fulkerson, Edmonds-Karp and Dinic's algorithms to compute maximum flow.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Determine the minimum cut and highlight the bottleneck edges.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Compare the running time and efficiency of each algorithm across different network sizes.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Provide a simple way to input a graph and view the computed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Title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11" name="Shape11"/>
          <p:cNvSpPr/>
          <p:nvPr/>
        </p:nvSpPr>
        <p:spPr>
          <a:xfrm>
            <a:off x="2000000" y="950000"/>
            <a:ext cx="3800000" cy="43000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" pitchFamily="34" charset="0"/>
              </a:rPr>
              <a:t>Start</a:t>
            </a:r>
          </a:p>
        </p:txBody>
      </p:sp>
      <p:cxnSp>
        <p:nvCxnSpPr>
          <p:cNvPr id="12" name="Connector12"/>
          <p:cNvCxnSpPr/>
          <p:nvPr/>
        </p:nvCxnSpPr>
        <p:spPr>
          <a:xfrm>
            <a:off x="3900000" y="1380000"/>
            <a:ext cx="1" cy="18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hape13"/>
          <p:cNvSpPr/>
          <p:nvPr/>
        </p:nvSpPr>
        <p:spPr>
          <a:xfrm>
            <a:off x="2000000" y="1560000"/>
            <a:ext cx="3800000" cy="4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Calibri" pitchFamily="34" charset="0"/>
              </a:rPr>
              <a:t>Read graph: nodes, edges, capacities, source and sink</a:t>
            </a:r>
          </a:p>
        </p:txBody>
      </p:sp>
      <p:cxnSp>
        <p:nvCxnSpPr>
          <p:cNvPr id="14" name="Connector14"/>
          <p:cNvCxnSpPr/>
          <p:nvPr/>
        </p:nvCxnSpPr>
        <p:spPr>
          <a:xfrm>
            <a:off x="3900000" y="2040000"/>
            <a:ext cx="1" cy="18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hape15"/>
          <p:cNvSpPr/>
          <p:nvPr/>
        </p:nvSpPr>
        <p:spPr>
          <a:xfrm>
            <a:off x="2000000" y="2220000"/>
            <a:ext cx="3800000" cy="43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Calibri" pitchFamily="34" charset="0"/>
              </a:rPr>
              <a:t>Initialize flow = 0 on every edge</a:t>
            </a:r>
          </a:p>
        </p:txBody>
      </p:sp>
      <p:cxnSp>
        <p:nvCxnSpPr>
          <p:cNvPr id="16" name="Connector16"/>
          <p:cNvCxnSpPr/>
          <p:nvPr/>
        </p:nvCxnSpPr>
        <p:spPr>
          <a:xfrm>
            <a:off x="3900000" y="2650000"/>
            <a:ext cx="1" cy="18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hape17"/>
          <p:cNvSpPr/>
          <p:nvPr/>
        </p:nvSpPr>
        <p:spPr>
          <a:xfrm>
            <a:off x="2000000" y="2830000"/>
            <a:ext cx="3800000" cy="4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Calibri" pitchFamily="34" charset="0"/>
              </a:rPr>
              <a:t>Find an augmenting path from source to sink (BFS)</a:t>
            </a:r>
          </a:p>
        </p:txBody>
      </p:sp>
      <p:cxnSp>
        <p:nvCxnSpPr>
          <p:cNvPr id="18" name="Connector18"/>
          <p:cNvCxnSpPr/>
          <p:nvPr/>
        </p:nvCxnSpPr>
        <p:spPr>
          <a:xfrm>
            <a:off x="3900000" y="3310000"/>
            <a:ext cx="1" cy="18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hape19"/>
          <p:cNvSpPr/>
          <p:nvPr/>
        </p:nvSpPr>
        <p:spPr>
          <a:xfrm>
            <a:off x="2350000" y="3490000"/>
            <a:ext cx="3100000" cy="780000"/>
          </a:xfrm>
          <a:prstGeom prst="diamond">
            <a:avLst/>
          </a:prstGeom>
          <a:solidFill>
            <a:srgbClr val="FFF2F2"/>
          </a:solidFill>
          <a:ln w="19050">
            <a:solidFill>
              <a:srgbClr val="C00000"/>
            </a:solidFill>
          </a:ln>
        </p:spPr>
        <p:txBody>
          <a:bodyPr wrap="square" lIns="45720" tIns="22860" rIns="45720" bIns="22860" anchor="ctr">
            <a:normAutofit fontScale="92500" lnSpcReduction="10000"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Calibri" pitchFamily="34" charset="0"/>
              </a:rPr>
              <a:t>Augmenting path found?</a:t>
            </a:r>
          </a:p>
        </p:txBody>
      </p:sp>
      <p:cxnSp>
        <p:nvCxnSpPr>
          <p:cNvPr id="20" name="Connector20"/>
          <p:cNvCxnSpPr/>
          <p:nvPr/>
        </p:nvCxnSpPr>
        <p:spPr>
          <a:xfrm>
            <a:off x="3900000" y="4270000"/>
            <a:ext cx="1" cy="35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abel21"/>
          <p:cNvSpPr txBox="1"/>
          <p:nvPr/>
        </p:nvSpPr>
        <p:spPr>
          <a:xfrm>
            <a:off x="4020000" y="4310000"/>
            <a:ext cx="700000" cy="35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Calibri" pitchFamily="34" charset="0"/>
              </a:rPr>
              <a:t>Yes</a:t>
            </a:r>
          </a:p>
        </p:txBody>
      </p:sp>
      <p:sp>
        <p:nvSpPr>
          <p:cNvPr id="22" name="Shape22"/>
          <p:cNvSpPr/>
          <p:nvPr/>
        </p:nvSpPr>
        <p:spPr>
          <a:xfrm>
            <a:off x="2000000" y="4620000"/>
            <a:ext cx="3800000" cy="4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Calibri" pitchFamily="34" charset="0"/>
              </a:rPr>
              <a:t>Update flow along the path; update residual capacities</a:t>
            </a:r>
          </a:p>
        </p:txBody>
      </p:sp>
      <p:cxnSp>
        <p:nvCxnSpPr>
          <p:cNvPr id="23" name="Connector23"/>
          <p:cNvCxnSpPr/>
          <p:nvPr/>
        </p:nvCxnSpPr>
        <p:spPr>
          <a:xfrm>
            <a:off x="900000" y="4860000"/>
            <a:ext cx="1100000" cy="1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24"/>
          <p:cNvCxnSpPr/>
          <p:nvPr/>
        </p:nvCxnSpPr>
        <p:spPr>
          <a:xfrm>
            <a:off x="900000" y="3070000"/>
            <a:ext cx="1" cy="17900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25"/>
          <p:cNvCxnSpPr/>
          <p:nvPr/>
        </p:nvCxnSpPr>
        <p:spPr>
          <a:xfrm>
            <a:off x="900000" y="3070000"/>
            <a:ext cx="1100000" cy="1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Label26"/>
          <p:cNvSpPr txBox="1"/>
          <p:nvPr/>
        </p:nvSpPr>
        <p:spPr>
          <a:xfrm>
            <a:off x="220000" y="3790000"/>
            <a:ext cx="900000" cy="35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lang="en-US" sz="1100" b="1" dirty="0">
                <a:solidFill>
                  <a:srgbClr val="C00000"/>
                </a:solidFill>
                <a:latin typeface="Calibri" pitchFamily="34" charset="0"/>
              </a:rPr>
              <a:t>repeat</a:t>
            </a:r>
          </a:p>
        </p:txBody>
      </p:sp>
      <p:cxnSp>
        <p:nvCxnSpPr>
          <p:cNvPr id="27" name="Connector27"/>
          <p:cNvCxnSpPr/>
          <p:nvPr/>
        </p:nvCxnSpPr>
        <p:spPr>
          <a:xfrm>
            <a:off x="5450000" y="3880000"/>
            <a:ext cx="2550000" cy="1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abel28"/>
          <p:cNvSpPr txBox="1"/>
          <p:nvPr/>
        </p:nvSpPr>
        <p:spPr>
          <a:xfrm>
            <a:off x="6525000" y="3460000"/>
            <a:ext cx="600000" cy="35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Calibri" pitchFamily="34" charset="0"/>
              </a:rPr>
              <a:t>No</a:t>
            </a:r>
          </a:p>
        </p:txBody>
      </p:sp>
      <p:sp>
        <p:nvSpPr>
          <p:cNvPr id="29" name="Shape29"/>
          <p:cNvSpPr/>
          <p:nvPr/>
        </p:nvSpPr>
        <p:spPr>
          <a:xfrm>
            <a:off x="8000000" y="3490000"/>
            <a:ext cx="3400000" cy="7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Calibri" pitchFamily="34" charset="0"/>
              </a:rPr>
              <a:t>Compute maximum flow value and identify the minimum cut</a:t>
            </a:r>
          </a:p>
        </p:txBody>
      </p:sp>
      <p:cxnSp>
        <p:nvCxnSpPr>
          <p:cNvPr id="30" name="Connector30"/>
          <p:cNvCxnSpPr/>
          <p:nvPr/>
        </p:nvCxnSpPr>
        <p:spPr>
          <a:xfrm>
            <a:off x="9700000" y="4270000"/>
            <a:ext cx="1" cy="38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hape31"/>
          <p:cNvSpPr/>
          <p:nvPr/>
        </p:nvSpPr>
        <p:spPr>
          <a:xfrm>
            <a:off x="8000000" y="4650000"/>
            <a:ext cx="3400000" cy="43000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" pitchFamily="34" charset="0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Title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0" name="TextBox Intro"/>
          <p:cNvSpPr txBox="1"/>
          <p:nvPr/>
        </p:nvSpPr>
        <p:spPr>
          <a:xfrm>
            <a:off x="1000000" y="1050000"/>
            <a:ext cx="10192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The three algorithms were tested on sample networks of increasing size, and the maximum flow value returned by each matched the value verified by hand calculation.</a:t>
            </a:r>
          </a:p>
        </p:txBody>
      </p:sp>
      <p:graphicFrame>
        <p:nvGraphicFramePr>
          <p:cNvPr id="12" name="Table Results"/>
          <p:cNvGraphicFramePr>
            <a:graphicFrameLocks noGrp="1"/>
          </p:cNvGraphicFramePr>
          <p:nvPr/>
        </p:nvGraphicFramePr>
        <p:xfrm>
          <a:off x="1000000" y="2100000"/>
          <a:ext cx="10192000" cy="2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Algorithm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Time Complexity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Iterations (test network, 12 nodes)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Ford-Fulkerson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O(E × max_flow)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Edmonds-Karp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O(V × E²)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Dinic's Algorithm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O(V² × 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Note"/>
          <p:cNvSpPr txBox="1"/>
          <p:nvPr/>
        </p:nvSpPr>
        <p:spPr>
          <a:xfrm>
            <a:off x="1000000" y="4950000"/>
            <a:ext cx="10192000" cy="1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3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Edmonds-Karp and Dinic's algorithm needed noticeably fewer iterations than basic Ford-Fulkerson as the network size grew, and the minimum-cut edges reported matched the expected bottleneck in every test case.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Title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Hardware and Software requirements</a:t>
            </a:r>
          </a:p>
        </p:txBody>
      </p:sp>
      <p:sp>
        <p:nvSpPr>
          <p:cNvPr id="10" name="TextBox Body"/>
          <p:cNvSpPr txBox="1"/>
          <p:nvPr/>
        </p:nvSpPr>
        <p:spPr>
          <a:xfrm>
            <a:off x="1000000" y="1050000"/>
            <a:ext cx="10192000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</a:rPr>
              <a:t>Hardware Requirements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Processor: Intel i3 or higher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RAM: 4 GB or more</a:t>
            </a:r>
          </a:p>
          <a:p>
            <a:pPr marL="342900" indent="-342900" algn="l">
              <a:lnSpc>
                <a:spcPct val="130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Storage: 500 MB free disk space</a:t>
            </a:r>
          </a:p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</a:rPr>
              <a:t>Software Requirements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Operating System: Windows, Linux or macOS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Programming Language: Python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IDE: VS Code / PyCharm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Libraries: NetworkX (graph handling), Matplotlib (visualization)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Title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" name="TextBox Body"/>
          <p:cNvSpPr txBox="1"/>
          <p:nvPr/>
        </p:nvSpPr>
        <p:spPr>
          <a:xfrm>
            <a:off x="1000000" y="1050000"/>
            <a:ext cx="10192000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The project successfully implements and compares three major maximum flow algorithms on graph-based networks.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It shows how graph theory concepts can be applied to solve practical optimization problems.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Edmonds-Karp and Dinic's algorithm computed results faster than the basic Ford-Fulkerson method on larger networks.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The minimum cut output helps identify the exact connections that limit a network's overall capacity.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The system can be extended for use in real-world areas such as traffic management and telecommunication networks.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Title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Future Scope</a:t>
            </a:r>
          </a:p>
        </p:txBody>
      </p:sp>
      <p:sp>
        <p:nvSpPr>
          <p:cNvPr id="2" name="TextBox Body"/>
          <p:cNvSpPr txBox="1"/>
          <p:nvPr/>
        </p:nvSpPr>
        <p:spPr>
          <a:xfrm>
            <a:off x="1000000" y="1050000"/>
            <a:ext cx="10192000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Extend the system to handle multi-commodity flow problems, where several flows share the same network.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Support dynamic networks in which edge capacities change over time.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Build a simple web-based interface for entering graphs and viewing results visually.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Test the system on real datasets, such as city traffic networks or data center connections.</a:t>
            </a:r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Explore parallel processing to speed up computation on very large networks.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909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 Title of the project:- NETWORK FLOW OPTIMIZATION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uppu sonu</cp:lastModifiedBy>
  <cp:revision>20</cp:revision>
  <dcterms:created xsi:type="dcterms:W3CDTF">2024-08-29T05:25:00Z</dcterms:created>
  <dcterms:modified xsi:type="dcterms:W3CDTF">2026-08-28T08:50:43Z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